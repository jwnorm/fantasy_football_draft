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669" r:id="rId1"/>
  </p:sldMasterIdLst>
  <p:handoutMasterIdLst>
    <p:handoutMasterId r:id="rId24"/>
  </p:handoutMasterIdLst>
  <p:sldIdLst>
    <p:sldId id="256" r:id="rId2"/>
    <p:sldId id="258" r:id="rId3"/>
    <p:sldId id="259" r:id="rId4"/>
    <p:sldId id="260" r:id="rId5"/>
    <p:sldId id="27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22"/>
    <p:restoredTop sz="97619"/>
  </p:normalViewPr>
  <p:slideViewPr>
    <p:cSldViewPr snapToGrid="0">
      <p:cViewPr varScale="1">
        <p:scale>
          <a:sx n="95" d="100"/>
          <a:sy n="95" d="100"/>
        </p:scale>
        <p:origin x="192" y="2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71" d="100"/>
          <a:sy n="171" d="100"/>
        </p:scale>
        <p:origin x="534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B5DC77-3304-32A9-B9DC-5C5C8154A3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D34AB-EA0B-B851-712F-DA44B6F3DB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8346C-829C-9741-B6F9-80B93090CD36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3B57B-772E-C27A-C659-0255D74036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FA236-1605-A99D-D85E-AD6208AED0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AD2D6-8445-2847-BBC7-A3BF72E58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21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7467-2772-9E6A-3D1E-85755336A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1E2D5-E572-C24F-BF83-4D71172C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4E879-90BF-FD7F-BAA2-86185629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87CEF-86F7-14FB-3FD1-7D0C79B5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7A963-8870-78DF-64EC-D2308E8F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6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4F1C-EE89-78E7-B956-D6759BD71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4184-B8B7-0D67-C956-3914FB229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4FC1-17E0-E397-850D-5EC51E61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A3165-3B34-E15A-200D-1F6A7041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9A8F8-D1A6-9988-9545-BC7AB91A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8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9E4E-196C-8DE7-0CDC-6AD01098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B9807-3040-0770-93E9-1C6738FC7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6A46F-1B10-943A-40E7-1B47CA2C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49B8E-338B-D54D-73CA-08CC24AE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D4F0-3A7A-9BD3-4F83-DC00C30D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04C7-157F-A6D8-C870-F5E1E874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2FC9F-F2F1-02CE-F952-6D67C3163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A4A56-4593-0893-5567-E07719FC2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357A6-63BD-9F37-BF3F-F3DAE53C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43076-2FA1-54C3-3280-A05ABD17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E6FFF-3B21-D52E-740F-270D39AF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4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3FAC-5295-4B98-EB65-3F30CFDD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0C68C-57B7-6BCB-41CA-8618494A2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F8471-AFD7-49B5-6365-7267C5B90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7715A-F9F7-71B4-E190-EFA266258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CFFF5-2748-AB23-FADD-27C0905CF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E9571-BB62-C4A2-B7C3-74763E1C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4F887-2EA5-E84C-307D-5F3F34F3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3A56E-9FE0-1709-1BFE-849FB281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7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1D8E-3001-6E3C-C49C-D3215810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2B853-A5C7-AF96-9F52-AC9E5D10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081CF-9DD5-33B5-4A97-1D2D98DD3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9E454-1717-F3C8-CCDF-DB9E6FA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60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625C52-D69D-8A18-C44E-B1918BDC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90DB20-BCE9-22E7-62EB-D7498BFB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4702D-2240-8B6B-998E-BE2CD5A4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0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DA1C-336F-DD13-9729-E46C9818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FF6A2-02C4-A4AD-F8A6-50F84CCD9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28E7E-0D41-4A54-A708-0E62A30A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0480D-40F2-98C6-2B63-3947FE4E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EE33F-61AB-BE9C-D596-75591352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C5D09-AE93-7AEE-E98E-3A99F1FC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2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BE9-99E1-C304-1FE1-07BEEC20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115B1-8D7E-B519-41BF-546F1100B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E7037-8208-45F8-67A1-FF7E37185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17334-8148-88ED-01DF-72828F79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5F4DB-94E1-A0DC-CF59-4773E197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1FEE2-AB80-DAD8-695A-3A9562B9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5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DECC-DE6B-DED3-492A-15721C4A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1AA0D-0D5D-A0A4-EC4C-A418451CB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08697-C68F-5B47-AED0-C732B7D6F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9F87C-0E74-DD8D-255D-0D64A972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05F5B-1F03-B3E8-70FE-0374D983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06960-2AB3-965A-A57A-1C24AC989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5BD5A-9F10-34D1-C1F9-7BE527327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FA1EA-A25E-F322-26FF-FA7BC6878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9AE86-20BB-AB37-1685-319E2AA1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0DFB9-08DE-20A0-C5C5-5680660D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2B230-D7BC-1C64-C28F-43965831B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4217F-54FA-7218-517E-6E6723B01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4D40D-94A6-8FDC-509D-1BB58CDB0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EF14D-2A41-2742-8CE3-E0F0BB8EF3F0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2FACD-0F0B-1D16-38E6-5E93F8BAD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5610-020F-0BD3-0F5F-F590468C6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71" r:id="rId2"/>
    <p:sldLayoutId id="2147484672" r:id="rId3"/>
    <p:sldLayoutId id="2147484673" r:id="rId4"/>
    <p:sldLayoutId id="2147484674" r:id="rId5"/>
    <p:sldLayoutId id="2147484675" r:id="rId6"/>
    <p:sldLayoutId id="2147484676" r:id="rId7"/>
    <p:sldLayoutId id="2147484677" r:id="rId8"/>
    <p:sldLayoutId id="2147484678" r:id="rId9"/>
    <p:sldLayoutId id="2147484679" r:id="rId10"/>
    <p:sldLayoutId id="2147484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816D-9452-3387-4A48-581BE3F64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891561" cy="2387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Fantasy Football</a:t>
            </a:r>
            <a:br>
              <a:rPr lang="en-US" dirty="0"/>
            </a:br>
            <a:r>
              <a:rPr lang="en-US" dirty="0"/>
              <a:t>Draft BIP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D5F3F-A522-6DBB-2D8E-E3BDC0BDD2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Jacob Norman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9BB33D6-BD96-C379-6D76-20A180941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897" y="1309077"/>
            <a:ext cx="2712103" cy="371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124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1EAB2-55EF-4571-6516-AE651896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CADC41-85E5-F59F-2DB9-74BC457D2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29" y="1518249"/>
            <a:ext cx="5166930" cy="5045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93808-FC48-DBC3-B3DB-5BAF672B2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381" y="1518249"/>
            <a:ext cx="4771351" cy="50449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B7D676A-89FC-34E9-D80C-CF78018F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3818"/>
          </a:xfrm>
        </p:spPr>
        <p:txBody>
          <a:bodyPr/>
          <a:lstStyle/>
          <a:p>
            <a:r>
              <a:rPr lang="en-US" dirty="0"/>
              <a:t>What is fantasy football?</a:t>
            </a:r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8DFA9CDD-8024-4226-AE18-4128E43A3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635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12760-92A6-0446-8FB6-2A024A3AB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44AC34-3955-F9C1-A95E-9CF68AECD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65" y="1604424"/>
            <a:ext cx="11321669" cy="446282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8" name="Title 11">
            <a:extLst>
              <a:ext uri="{FF2B5EF4-FFF2-40B4-BE49-F238E27FC236}">
                <a16:creationId xmlns:a16="http://schemas.microsoft.com/office/drawing/2014/main" id="{C281135E-4D1F-32A9-5DCB-352D3DF0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3818"/>
          </a:xfrm>
        </p:spPr>
        <p:txBody>
          <a:bodyPr/>
          <a:lstStyle/>
          <a:p>
            <a:r>
              <a:rPr lang="en-US" dirty="0"/>
              <a:t>How do teams get players?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CF156737-3C64-A1F0-FA26-2AB9AF48B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317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CF47D-F5BC-3472-5CA5-A68BE1F4B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07504-AF2A-4F4C-0194-382D2CAA6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952"/>
            <a:ext cx="10606177" cy="4538546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Model the fantasy football draft problem as a binary integer programming (BIP) model;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results against actual data through Week 13 of the NFL season; and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Conduct a series of scenario analyses by adjusting various parameters.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DFB62A6-7E7C-7553-E33A-DDB4D25C8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313ACDD1-19A4-7493-128B-51C697DF478A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97520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FDAB6-B0F5-30A8-2DF6-4B823789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3719A-9A79-D8BF-FF79-88D3CCA3C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9077"/>
            <a:ext cx="5891561" cy="2387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Model Definition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F3E2EE6-159A-725C-0D4E-2429F2E7C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897" y="1309077"/>
            <a:ext cx="2712103" cy="371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746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33EDA-36A1-E224-782A-0F284142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F5C02-F568-30A1-422D-18A4817B89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9952"/>
                <a:ext cx="10606177" cy="4538546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US"/>
                      <m:t>Ja</m:t>
                    </m:r>
                    <m:r>
                      <m:rPr>
                        <m:nor/>
                      </m:rPr>
                      <a:rPr lang="en-US" i="1"/>
                      <m:t>′</m:t>
                    </m:r>
                    <m:r>
                      <m:rPr>
                        <m:nor/>
                      </m:rPr>
                      <a:rPr lang="en-US"/>
                      <m:t>Marr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Chase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/>
                      <m:t>Joe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Flacco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: Player pool of 208 eligible players to draft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1, 2, 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14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: Number of rounds in fantasy draft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5, 6, 7, 8, 9, 10, 11, 12, 14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: NFL weeks that correspond to a bye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US"/>
                      <m:t>QB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/>
                      <m:t>RB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/>
                      <m:t>WR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/>
                      <m:t>TE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/>
                      <m:t>Flex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: Required positions on fantasy football roster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F5C02-F568-30A1-422D-18A4817B8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9952"/>
                <a:ext cx="10606177" cy="4538546"/>
              </a:xfrm>
              <a:blipFill>
                <a:blip r:embed="rId2"/>
                <a:stretch>
                  <a:fillRect l="-1198" t="-2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9A43FDD5-9C76-7F11-6E1F-F9693755A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28A70A15-F762-9C85-DD7F-91DDCFDAEED5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Sets</a:t>
            </a:r>
          </a:p>
        </p:txBody>
      </p:sp>
    </p:spTree>
    <p:extLst>
      <p:ext uri="{BB962C8B-B14F-4D97-AF65-F5344CB8AC3E}">
        <p14:creationId xmlns:p14="http://schemas.microsoft.com/office/powerpoint/2010/main" val="55795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BF87B-829D-DEEF-0196-76AB6147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67332D-A706-C08A-885A-8BAD574A1C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9952"/>
                <a:ext cx="10859219" cy="4538546"/>
              </a:xfrm>
            </p:spPr>
            <p:txBody>
              <a:bodyPr anchor="t"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Total projected PPR fantasy points for player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ADP for player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from drafts between August 29 and September 4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Binary value indicating if player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eligible to play 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Binary value indicating if player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has a bye week during week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𝑝𝑜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Total number of required players drafted that are eligible to play 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67332D-A706-C08A-885A-8BAD574A1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9952"/>
                <a:ext cx="10859219" cy="4538546"/>
              </a:xfrm>
              <a:blipFill>
                <a:blip r:embed="rId2"/>
                <a:stretch>
                  <a:fillRect l="-935" t="-2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972E23E6-EBA1-A8A1-9400-8559CEEE0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9E19E550-264B-0BF4-C8D0-C25C35B9BF1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91824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4D3A5-BDED-96C1-05F2-445CEA8FD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169AB5-8253-761A-333F-41327F4AA4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88257"/>
                <a:ext cx="10606177" cy="329024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: Binary variable indicating if player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selected in round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169AB5-8253-761A-333F-41327F4AA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88257"/>
                <a:ext cx="10606177" cy="3290240"/>
              </a:xfrm>
              <a:blipFill>
                <a:blip r:embed="rId2"/>
                <a:stretch>
                  <a:fillRect l="-1198" t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864A3E40-7FA9-ABC9-22FC-7CBA21490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C945CBBB-D23B-37E0-F277-D2EE28E2DA3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Decision Variables</a:t>
            </a:r>
          </a:p>
        </p:txBody>
      </p:sp>
    </p:spTree>
    <p:extLst>
      <p:ext uri="{BB962C8B-B14F-4D97-AF65-F5344CB8AC3E}">
        <p14:creationId xmlns:p14="http://schemas.microsoft.com/office/powerpoint/2010/main" val="250856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B288C-8941-546B-B022-7964A76CD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6F6D3C-4A04-68CD-3F2D-BA2767A6BD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30747"/>
                <a:ext cx="10606177" cy="334775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max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5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6F6D3C-4A04-68CD-3F2D-BA2767A6BD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30747"/>
                <a:ext cx="10606177" cy="3347750"/>
              </a:xfrm>
              <a:blipFill>
                <a:blip r:embed="rId2"/>
                <a:stretch>
                  <a:fillRect t="-46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9EBA152A-2540-B6CB-2F58-B23B3BF99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761023D6-57A9-B45F-8A48-E39D541BDF0A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3170761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9EA11-EEA6-CFF3-7E29-178BF491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841ED-082A-9190-9B77-F7184B129F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34712"/>
                <a:ext cx="10606177" cy="3743786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=1, 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≤1, 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841ED-082A-9190-9B77-F7184B129F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34712"/>
                <a:ext cx="10606177" cy="3743786"/>
              </a:xfrm>
              <a:blipFill>
                <a:blip r:embed="rId2"/>
                <a:stretch>
                  <a:fillRect t="-41554" b="-22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A63AF984-54AC-8BD4-BDAF-CC95E431B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9FA262E0-B94F-2C24-E470-6BC43BFA17A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Assignment Constraints</a:t>
            </a:r>
          </a:p>
        </p:txBody>
      </p:sp>
    </p:spTree>
    <p:extLst>
      <p:ext uri="{BB962C8B-B14F-4D97-AF65-F5344CB8AC3E}">
        <p14:creationId xmlns:p14="http://schemas.microsoft.com/office/powerpoint/2010/main" val="3857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561DA-784B-7DF9-9554-20CA8497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6A6987-FB9E-7CB9-EDB4-96C6C30CC7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95226"/>
                <a:ext cx="10606177" cy="3883271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≥12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+6, 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=1, 3, 5,…, 13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≥12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+7, 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=2, 4, 6,…, 14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6A6987-FB9E-7CB9-EDB4-96C6C30CC7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95226"/>
                <a:ext cx="10606177" cy="3883271"/>
              </a:xfrm>
              <a:blipFill>
                <a:blip r:embed="rId2"/>
                <a:stretch>
                  <a:fillRect t="-40391" b="-17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085EBCFE-7B03-6B5F-4B78-B14052D36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3EDD7D93-3B51-DD35-041A-66DD491A6E40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Snake Draft Enforcement Constraints</a:t>
            </a:r>
          </a:p>
        </p:txBody>
      </p:sp>
    </p:spTree>
    <p:extLst>
      <p:ext uri="{BB962C8B-B14F-4D97-AF65-F5344CB8AC3E}">
        <p14:creationId xmlns:p14="http://schemas.microsoft.com/office/powerpoint/2010/main" val="3387948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C5C02-FC0E-FA09-6AC3-482BE760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4559C1-45DD-F2A1-5FCF-B6E9A1D234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33234"/>
                <a:ext cx="10606177" cy="3945263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𝑝𝑜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/>
                                    <m:t>QB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4559C1-45DD-F2A1-5FCF-B6E9A1D234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33234"/>
                <a:ext cx="10606177" cy="3945263"/>
              </a:xfrm>
              <a:blipFill>
                <a:blip r:embed="rId2"/>
                <a:stretch>
                  <a:fillRect t="-40064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5831BD7F-34A3-48F9-B094-DE0F74BED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6D1AA0BE-DC5D-8977-9B00-A1885D3F66B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Positional Requirement Constraints</a:t>
            </a:r>
          </a:p>
        </p:txBody>
      </p:sp>
    </p:spTree>
    <p:extLst>
      <p:ext uri="{BB962C8B-B14F-4D97-AF65-F5344CB8AC3E}">
        <p14:creationId xmlns:p14="http://schemas.microsoft.com/office/powerpoint/2010/main" val="1342854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FB834-4A79-8A45-D2B9-E40F6B1D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481F36-9497-A4DA-37DC-4D876D3F6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23647"/>
                <a:ext cx="10606177" cy="315485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3, 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481F36-9497-A4DA-37DC-4D876D3F6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23647"/>
                <a:ext cx="10606177" cy="3154850"/>
              </a:xfrm>
              <a:blipFill>
                <a:blip r:embed="rId2"/>
                <a:stretch>
                  <a:fillRect t="-49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D93C3F3B-98B7-EAC0-CC56-610E30EDA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7CE4BD2B-4EDE-3E4B-EE27-03F1C1883DD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Bye Week Constraints</a:t>
            </a:r>
          </a:p>
        </p:txBody>
      </p:sp>
    </p:spTree>
    <p:extLst>
      <p:ext uri="{BB962C8B-B14F-4D97-AF65-F5344CB8AC3E}">
        <p14:creationId xmlns:p14="http://schemas.microsoft.com/office/powerpoint/2010/main" val="1661388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43038-F860-9E56-4CCC-970CA5378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2AEC3FB5-FF22-8529-D74F-5E502C832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9F8F184C-0B90-F15D-5218-E7BEF174A71D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Base Model Optimal Solution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4D850C3-6E08-4F06-8F6C-4235BE7A96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09811"/>
              </p:ext>
            </p:extLst>
          </p:nvPr>
        </p:nvGraphicFramePr>
        <p:xfrm>
          <a:off x="3803904" y="2015593"/>
          <a:ext cx="9847258" cy="425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600" imgH="2565400" progId="Word.Document.12">
                  <p:embed/>
                </p:oleObj>
              </mc:Choice>
              <mc:Fallback>
                <p:oleObj name="Document" r:id="rId3" imgW="5943600" imgH="2565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3904" y="2015593"/>
                        <a:ext cx="9847258" cy="4250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6024B7-B4A3-7628-C7E2-BAB3C3792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39952"/>
            <a:ext cx="4878202" cy="4538546"/>
          </a:xfrm>
        </p:spPr>
        <p:txBody>
          <a:bodyPr anchor="t">
            <a:normAutofit/>
          </a:bodyPr>
          <a:lstStyle/>
          <a:p>
            <a:r>
              <a:rPr lang="en-US" dirty="0"/>
              <a:t>Optimal value: 3,436 points</a:t>
            </a:r>
          </a:p>
          <a:p>
            <a:endParaRPr lang="en-US" dirty="0"/>
          </a:p>
          <a:p>
            <a:r>
              <a:rPr lang="en-US" dirty="0" err="1"/>
              <a:t>HiGHS</a:t>
            </a:r>
            <a:r>
              <a:rPr lang="en-US" dirty="0"/>
              <a:t> solver (via Julia)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0.1 seconds solve time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1 node explored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105 LP iterations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r>
              <a:rPr lang="en-US" dirty="0"/>
              <a:t>Draft RBs early, wait on QBs and TEs</a:t>
            </a:r>
          </a:p>
          <a:p>
            <a:pPr lvl="1"/>
            <a:endParaRPr lang="en-US" dirty="0"/>
          </a:p>
          <a:p>
            <a:pPr lvl="1">
              <a:buFont typeface="Wingdings" pitchFamily="2" charset="2"/>
              <a:buChar char="q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213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766DC-0DB4-91AB-C374-35C99F1E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C55719E8-7243-4F55-BE69-0C9C5EE76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E6547EE6-7453-6943-5C8F-9A2381561CE3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True Model Optimal Solution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B123244-E627-6DD9-128A-E6511B6A2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39952"/>
            <a:ext cx="4878202" cy="4538546"/>
          </a:xfrm>
        </p:spPr>
        <p:txBody>
          <a:bodyPr anchor="t">
            <a:normAutofit/>
          </a:bodyPr>
          <a:lstStyle/>
          <a:p>
            <a:r>
              <a:rPr lang="en-US" i="1" dirty="0"/>
              <a:t>Intuition</a:t>
            </a:r>
            <a:r>
              <a:rPr lang="en-US" dirty="0"/>
              <a:t>: Roster that would be selected with perfect forecast</a:t>
            </a:r>
          </a:p>
          <a:p>
            <a:endParaRPr lang="en-US" dirty="0"/>
          </a:p>
          <a:p>
            <a:r>
              <a:rPr lang="en-US" dirty="0"/>
              <a:t>Optimal value: 2,951 points</a:t>
            </a:r>
          </a:p>
          <a:p>
            <a:endParaRPr lang="en-US" dirty="0"/>
          </a:p>
          <a:p>
            <a:r>
              <a:rPr lang="en-US" dirty="0"/>
              <a:t>Base model achieves 59.5 percent of this value</a:t>
            </a:r>
          </a:p>
          <a:p>
            <a:pPr lvl="1"/>
            <a:endParaRPr lang="en-US" dirty="0"/>
          </a:p>
          <a:p>
            <a:pPr lvl="1">
              <a:buFont typeface="Wingdings" pitchFamily="2" charset="2"/>
              <a:buChar char="q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79D5861-E7B4-588E-17F9-BCF63CFAF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748919"/>
              </p:ext>
            </p:extLst>
          </p:nvPr>
        </p:nvGraphicFramePr>
        <p:xfrm>
          <a:off x="3803904" y="2011680"/>
          <a:ext cx="9851076" cy="4251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600" imgH="2565400" progId="Word.Document.12">
                  <p:embed/>
                </p:oleObj>
              </mc:Choice>
              <mc:Fallback>
                <p:oleObj name="Document" r:id="rId3" imgW="5943600" imgH="2565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3904" y="2011680"/>
                        <a:ext cx="9851076" cy="4251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8830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57973-5C5C-FCBD-085F-359C7467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EF0A-03C4-F610-758C-535E13A59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9077"/>
            <a:ext cx="5891561" cy="2387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Scenario Analysis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AB9605D-B43A-9FE0-C7CC-308634896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897" y="1309077"/>
            <a:ext cx="2712103" cy="371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785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7AFB1-4D24-1A45-2E58-A5994DAA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39BFDCEF-7060-F9B7-0738-1AB5BD701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EF4D2B56-48E7-6868-3D80-150D50E83AA5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Projection System Used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A9F8E8-B9C6-D2B2-564E-B774BD9279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329163"/>
              </p:ext>
            </p:extLst>
          </p:nvPr>
        </p:nvGraphicFramePr>
        <p:xfrm>
          <a:off x="3333750" y="2968808"/>
          <a:ext cx="11355638" cy="2280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600" imgH="1193800" progId="Word.Document.12">
                  <p:embed/>
                </p:oleObj>
              </mc:Choice>
              <mc:Fallback>
                <p:oleObj name="Document" r:id="rId3" imgW="5943600" imgH="11938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750" y="2968808"/>
                        <a:ext cx="11355638" cy="2280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03205-777B-5DD9-D395-47D374C3B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39952"/>
                <a:ext cx="4991099" cy="4538546"/>
              </a:xfrm>
            </p:spPr>
            <p:txBody>
              <a:bodyPr anchor="t">
                <a:normAutofit/>
              </a:bodyPr>
              <a:lstStyle/>
              <a:p>
                <a:r>
                  <a:rPr lang="en-US" dirty="0"/>
                  <a:t>Four projection systems from notable fantasy football sources were tested</a:t>
                </a:r>
              </a:p>
              <a:p>
                <a:endParaRPr lang="en-US" dirty="0"/>
              </a:p>
              <a:p>
                <a:r>
                  <a:rPr lang="en-US" dirty="0"/>
                  <a:t>Projected points for player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were adjusted</a:t>
                </a:r>
              </a:p>
              <a:p>
                <a:endParaRPr lang="en-US" dirty="0"/>
              </a:p>
              <a:p>
                <a:r>
                  <a:rPr lang="en-US" dirty="0" err="1"/>
                  <a:t>RotoBaller</a:t>
                </a:r>
                <a:r>
                  <a:rPr lang="en-US" dirty="0"/>
                  <a:t> is the strongest system through Week 13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03205-777B-5DD9-D395-47D374C3B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39952"/>
                <a:ext cx="4991099" cy="4538546"/>
              </a:xfrm>
              <a:blipFill>
                <a:blip r:embed="rId5"/>
                <a:stretch>
                  <a:fillRect l="-2290" t="-2228" r="-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BA3F452-894F-EAA5-E7F8-7F41BCC01625}"/>
              </a:ext>
            </a:extLst>
          </p:cNvPr>
          <p:cNvSpPr txBox="1"/>
          <p:nvPr/>
        </p:nvSpPr>
        <p:spPr>
          <a:xfrm>
            <a:off x="6235700" y="4660900"/>
            <a:ext cx="534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Parameter setting in base model</a:t>
            </a:r>
          </a:p>
        </p:txBody>
      </p:sp>
    </p:spTree>
    <p:extLst>
      <p:ext uri="{BB962C8B-B14F-4D97-AF65-F5344CB8AC3E}">
        <p14:creationId xmlns:p14="http://schemas.microsoft.com/office/powerpoint/2010/main" val="203513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C9854-1CDF-C4C2-252F-8A9D3562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E6E84A1A-BFCC-4578-D799-64C93187D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EEC2972B-729D-0F08-6755-4DCDF5FDAA55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Starting Draft Position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8005DD7-145F-C158-8D07-1C63EE831D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148028"/>
              </p:ext>
            </p:extLst>
          </p:nvPr>
        </p:nvGraphicFramePr>
        <p:xfrm>
          <a:off x="3440668" y="2984714"/>
          <a:ext cx="11512128" cy="204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600" imgH="1054100" progId="Word.Document.12">
                  <p:embed/>
                </p:oleObj>
              </mc:Choice>
              <mc:Fallback>
                <p:oleObj name="Document" r:id="rId3" imgW="5943600" imgH="1054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40668" y="2984714"/>
                        <a:ext cx="11512128" cy="204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116DF4-10F9-8653-1A3E-51071FC3419D}"/>
              </a:ext>
            </a:extLst>
          </p:cNvPr>
          <p:cNvSpPr txBox="1"/>
          <p:nvPr/>
        </p:nvSpPr>
        <p:spPr>
          <a:xfrm>
            <a:off x="6489570" y="4445000"/>
            <a:ext cx="534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Parameter setting in base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97E89-0D96-3BB3-4EC8-2C27E67C3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39952"/>
            <a:ext cx="4991099" cy="4538546"/>
          </a:xfrm>
        </p:spPr>
        <p:txBody>
          <a:bodyPr anchor="t">
            <a:normAutofit/>
          </a:bodyPr>
          <a:lstStyle/>
          <a:p>
            <a:r>
              <a:rPr lang="en-US" dirty="0"/>
              <a:t>Beginning, middle, and end of first round were tested</a:t>
            </a:r>
          </a:p>
          <a:p>
            <a:endParaRPr lang="en-US" dirty="0"/>
          </a:p>
          <a:p>
            <a:r>
              <a:rPr lang="en-US" dirty="0"/>
              <a:t>Snake draft enforcement constraints for even rounds were updated</a:t>
            </a:r>
          </a:p>
          <a:p>
            <a:endParaRPr lang="en-US" dirty="0"/>
          </a:p>
          <a:p>
            <a:r>
              <a:rPr lang="en-US" dirty="0"/>
              <a:t>Sixth position results in the most points through Week 13</a:t>
            </a:r>
          </a:p>
        </p:txBody>
      </p:sp>
    </p:spTree>
    <p:extLst>
      <p:ext uri="{BB962C8B-B14F-4D97-AF65-F5344CB8AC3E}">
        <p14:creationId xmlns:p14="http://schemas.microsoft.com/office/powerpoint/2010/main" val="1944157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CAD96-986A-2C30-2959-2C2BCA64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84947E6A-305F-0B1E-92F3-AB305B455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62428A42-BE4E-AA2C-D8C8-D047131B8279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Other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8DE0A-32F3-505F-2AF9-90D2511B8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39952"/>
            <a:ext cx="10604499" cy="4538546"/>
          </a:xfrm>
        </p:spPr>
        <p:txBody>
          <a:bodyPr anchor="t">
            <a:normAutofit/>
          </a:bodyPr>
          <a:lstStyle/>
          <a:p>
            <a:r>
              <a:rPr lang="en-US" dirty="0"/>
              <a:t>Draft players at their ADP or later; overvaluing players results in significantly lesser roster value</a:t>
            </a:r>
          </a:p>
          <a:p>
            <a:endParaRPr lang="en-US" dirty="0"/>
          </a:p>
          <a:p>
            <a:r>
              <a:rPr lang="en-US" dirty="0"/>
              <a:t>The fewer points awarded per reception place </a:t>
            </a:r>
            <a:r>
              <a:rPr lang="en-US" u="sng" dirty="0"/>
              <a:t>more</a:t>
            </a:r>
            <a:r>
              <a:rPr lang="en-US" dirty="0"/>
              <a:t> value on running backs</a:t>
            </a:r>
          </a:p>
          <a:p>
            <a:endParaRPr lang="en-US" dirty="0"/>
          </a:p>
          <a:p>
            <a:r>
              <a:rPr lang="en-US" dirty="0"/>
              <a:t>Contrary to current discourse, tight ends still hold enough positional value to remain on rosters if that constraint is relaxed</a:t>
            </a:r>
          </a:p>
        </p:txBody>
      </p:sp>
    </p:spTree>
    <p:extLst>
      <p:ext uri="{BB962C8B-B14F-4D97-AF65-F5344CB8AC3E}">
        <p14:creationId xmlns:p14="http://schemas.microsoft.com/office/powerpoint/2010/main" val="1338560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F40C2-D3BD-9C1A-D060-797CD8E2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80664340-4509-D537-B406-F4764D27E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16967137-24EA-5B2F-6C51-254D63706CF6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Advantages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23630-EDC1-5305-C9F3-D11D20DCB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39952"/>
            <a:ext cx="10604499" cy="4538546"/>
          </a:xfrm>
        </p:spPr>
        <p:txBody>
          <a:bodyPr anchor="t">
            <a:normAutofit/>
          </a:bodyPr>
          <a:lstStyle/>
          <a:p>
            <a:pPr>
              <a:buFont typeface="System Font Regular"/>
              <a:buChar char="x"/>
            </a:pPr>
            <a:r>
              <a:rPr lang="en-US" dirty="0"/>
              <a:t>Primary assumption: player draft values are deterministic</a:t>
            </a:r>
          </a:p>
          <a:p>
            <a:endParaRPr lang="en-US" dirty="0"/>
          </a:p>
          <a:p>
            <a:pPr>
              <a:buFont typeface="System Font Regular"/>
              <a:buChar char="x"/>
            </a:pPr>
            <a:r>
              <a:rPr lang="en-US" dirty="0"/>
              <a:t>Model only as useful as projections that power it</a:t>
            </a:r>
          </a:p>
          <a:p>
            <a:endParaRPr lang="en-US" dirty="0"/>
          </a:p>
          <a:p>
            <a:pPr>
              <a:buFont typeface="System Font Regular"/>
              <a:buChar char="x"/>
            </a:pPr>
            <a:r>
              <a:rPr lang="en-US" dirty="0"/>
              <a:t>Difficult to successfully model more complex elements of a fantasy league: injuries, start-sit decisions, waiver wire additions</a:t>
            </a:r>
          </a:p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Fantasy football draft BIP model should be utilized as a strategic guide rather than a firm predictive tool</a:t>
            </a:r>
          </a:p>
        </p:txBody>
      </p:sp>
    </p:spTree>
    <p:extLst>
      <p:ext uri="{BB962C8B-B14F-4D97-AF65-F5344CB8AC3E}">
        <p14:creationId xmlns:p14="http://schemas.microsoft.com/office/powerpoint/2010/main" val="1657516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D4778-86EB-DB96-BF2C-C154C70D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B0191F7B-D167-B9C8-0DB6-50D4840A0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411" y="231446"/>
            <a:ext cx="788859" cy="108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A0C78E7B-9E38-A1FD-8142-0EC50FABB9FC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AB44C3-48EF-4C13-D2AD-136D5B7D0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21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400" dirty="0" err="1"/>
              <a:t>Ciely</a:t>
            </a:r>
            <a:r>
              <a:rPr lang="en-US" sz="3400" dirty="0"/>
              <a:t>, J. (2025, September 3). </a:t>
            </a:r>
            <a:r>
              <a:rPr lang="en-US" sz="3400" i="1" dirty="0"/>
              <a:t>Fantasy football 2025 cheat sheet generator: Customizable</a:t>
            </a:r>
            <a:r>
              <a:rPr lang="en-US" sz="3400" dirty="0"/>
              <a:t> </a:t>
            </a:r>
            <a:r>
              <a:rPr lang="en-US" sz="3400" i="1" dirty="0"/>
              <a:t>rankings and projections tool</a:t>
            </a:r>
            <a:r>
              <a:rPr lang="en-US" sz="3400" dirty="0"/>
              <a:t> 	[Dataset]. </a:t>
            </a:r>
            <a:r>
              <a:rPr lang="en-US" sz="3400" i="1" dirty="0"/>
              <a:t>The Athletic</a:t>
            </a:r>
            <a:r>
              <a:rPr lang="en-US" sz="3400" dirty="0"/>
              <a:t>. https://</a:t>
            </a:r>
            <a:r>
              <a:rPr lang="en-US" sz="3400" dirty="0" err="1"/>
              <a:t>www.nytimes.com</a:t>
            </a:r>
            <a:r>
              <a:rPr lang="en-US" sz="3400" dirty="0"/>
              <a:t>/athletic/6432965/2025/06/19/fantasy-football-2025-	rankings-projections-cheat-sheet/</a:t>
            </a:r>
          </a:p>
          <a:p>
            <a:pPr marL="0" indent="0">
              <a:buNone/>
            </a:pPr>
            <a:r>
              <a:rPr lang="en-US" sz="3400" dirty="0"/>
              <a:t> </a:t>
            </a:r>
          </a:p>
          <a:p>
            <a:pPr marL="0" indent="0">
              <a:buNone/>
            </a:pPr>
            <a:r>
              <a:rPr lang="en-US" sz="3400" dirty="0"/>
              <a:t>National Fantasy Championship. (2025). </a:t>
            </a:r>
            <a:r>
              <a:rPr lang="en-US" sz="3400" i="1" dirty="0"/>
              <a:t>Average draft position</a:t>
            </a:r>
            <a:r>
              <a:rPr lang="en-US" sz="3400" dirty="0"/>
              <a:t> [Dataset]. National Fantasy Championship. Retrieved 	November 18, 2025, from https://</a:t>
            </a:r>
            <a:r>
              <a:rPr lang="en-US" sz="3400" dirty="0" err="1"/>
              <a:t>nfc.shgn.com</a:t>
            </a:r>
            <a:r>
              <a:rPr lang="en-US" sz="3400" dirty="0"/>
              <a:t>/</a:t>
            </a:r>
            <a:r>
              <a:rPr lang="en-US" sz="3400" dirty="0" err="1"/>
              <a:t>adp</a:t>
            </a:r>
            <a:r>
              <a:rPr lang="en-US" sz="3400" dirty="0"/>
              <a:t>/football</a:t>
            </a:r>
          </a:p>
          <a:p>
            <a:pPr marL="0" indent="0">
              <a:buNone/>
            </a:pPr>
            <a:r>
              <a:rPr lang="en-US" sz="3400" dirty="0"/>
              <a:t> </a:t>
            </a:r>
          </a:p>
          <a:p>
            <a:pPr marL="0" indent="0">
              <a:buNone/>
            </a:pPr>
            <a:r>
              <a:rPr lang="en-US" sz="3400" dirty="0" err="1"/>
              <a:t>numberFire</a:t>
            </a:r>
            <a:r>
              <a:rPr lang="en-US" sz="3400" dirty="0"/>
              <a:t>. (2025, August). </a:t>
            </a:r>
            <a:r>
              <a:rPr lang="en-US" sz="3400" i="1" dirty="0"/>
              <a:t>Fantasy football printable cheat sheet: Top 200 players for 12-team</a:t>
            </a:r>
            <a:r>
              <a:rPr lang="en-US" sz="3400" dirty="0"/>
              <a:t> </a:t>
            </a:r>
            <a:r>
              <a:rPr lang="en-US" sz="3400" i="1" dirty="0"/>
              <a:t>PPR league</a:t>
            </a:r>
            <a:r>
              <a:rPr lang="en-US" sz="3400" dirty="0"/>
              <a:t> [Dataset]. 	FanDuel. https://</a:t>
            </a:r>
            <a:r>
              <a:rPr lang="en-US" sz="3400" dirty="0" err="1"/>
              <a:t>www.fanduel.com</a:t>
            </a:r>
            <a:r>
              <a:rPr lang="en-US" sz="3400" dirty="0"/>
              <a:t>/research/fantasy-football-printable-cheat-sheet-top-200-players-for-	12-team-ppr-league-2025</a:t>
            </a:r>
          </a:p>
          <a:p>
            <a:pPr marL="0" indent="0">
              <a:buNone/>
            </a:pPr>
            <a:r>
              <a:rPr lang="en-US" sz="3400" dirty="0"/>
              <a:t> </a:t>
            </a:r>
          </a:p>
          <a:p>
            <a:pPr marL="0" indent="0">
              <a:buNone/>
            </a:pPr>
            <a:r>
              <a:rPr lang="en-US" sz="3400" dirty="0"/>
              <a:t>Pro Football Focus. (2025a, September 1). </a:t>
            </a:r>
            <a:r>
              <a:rPr lang="en-US" sz="3400" i="1" dirty="0"/>
              <a:t>2025 fantasy football rankings builder</a:t>
            </a:r>
            <a:r>
              <a:rPr lang="en-US" sz="3400" dirty="0"/>
              <a:t> [Dataset]. Pro Football Focus. 	https://</a:t>
            </a:r>
            <a:r>
              <a:rPr lang="en-US" sz="3400" dirty="0" err="1"/>
              <a:t>www.pff.com</a:t>
            </a:r>
            <a:r>
              <a:rPr lang="en-US" sz="3400" dirty="0"/>
              <a:t>/news/fantasy-football-rankings-builder-2025</a:t>
            </a:r>
          </a:p>
          <a:p>
            <a:pPr marL="0" indent="0">
              <a:buNone/>
            </a:pPr>
            <a:r>
              <a:rPr lang="en-US" sz="3400" dirty="0"/>
              <a:t> </a:t>
            </a:r>
          </a:p>
          <a:p>
            <a:pPr marL="0" indent="0">
              <a:buNone/>
            </a:pPr>
            <a:r>
              <a:rPr lang="en-US" sz="3400" dirty="0"/>
              <a:t>Pro Football Focus. (2025b) </a:t>
            </a:r>
            <a:r>
              <a:rPr lang="en-US" sz="3400" i="1" dirty="0"/>
              <a:t>Fantasy football stats</a:t>
            </a:r>
            <a:r>
              <a:rPr lang="en-US" sz="3400" dirty="0"/>
              <a:t> [Dataset]. Pro Football Focus. Retrieved December 2, 2025, from 	https://</a:t>
            </a:r>
            <a:r>
              <a:rPr lang="en-US" sz="3400" dirty="0" err="1"/>
              <a:t>www.pff.com</a:t>
            </a:r>
            <a:r>
              <a:rPr lang="en-US" sz="3400" dirty="0"/>
              <a:t>/fantasy/stats</a:t>
            </a:r>
          </a:p>
          <a:p>
            <a:pPr marL="0" indent="0">
              <a:buNone/>
            </a:pPr>
            <a:r>
              <a:rPr lang="en-US" sz="3400" dirty="0"/>
              <a:t> </a:t>
            </a:r>
          </a:p>
          <a:p>
            <a:pPr marL="0" indent="0">
              <a:buNone/>
            </a:pPr>
            <a:r>
              <a:rPr lang="en-US" sz="3400" dirty="0" err="1"/>
              <a:t>RotoBaller</a:t>
            </a:r>
            <a:r>
              <a:rPr lang="en-US" sz="3400" dirty="0"/>
              <a:t>. (2025). </a:t>
            </a:r>
            <a:r>
              <a:rPr lang="en-US" sz="3400" i="1" dirty="0"/>
              <a:t>Free fantasy football draft cheat sheet (2025) </a:t>
            </a:r>
            <a:r>
              <a:rPr lang="en-US" sz="3400" dirty="0"/>
              <a:t>[Dataset]. </a:t>
            </a:r>
            <a:r>
              <a:rPr lang="en-US" sz="3400" dirty="0" err="1"/>
              <a:t>RotoBaller</a:t>
            </a:r>
            <a:r>
              <a:rPr lang="en-US" sz="3400" dirty="0"/>
              <a:t>. Retrieved November 19, 2025, 	from https://</a:t>
            </a:r>
            <a:r>
              <a:rPr lang="en-US" sz="3400" dirty="0" err="1"/>
              <a:t>www.rotoballer.com</a:t>
            </a:r>
            <a:r>
              <a:rPr lang="en-US" sz="3400" dirty="0"/>
              <a:t>/free-fantasy-football-draft-cheat-sheet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16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07DB4-14E8-38D4-4DE2-8DFBF6631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A51D-CB56-02D3-D719-6D9373E8B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9077"/>
            <a:ext cx="5891561" cy="2387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Questions?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63BB6F7-0466-1A32-95AB-9D38AAB13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897" y="1309077"/>
            <a:ext cx="2712103" cy="371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36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Words>847</Words>
  <Application>Microsoft Macintosh PowerPoint</Application>
  <PresentationFormat>Widescreen</PresentationFormat>
  <Paragraphs>104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System Font Regular</vt:lpstr>
      <vt:lpstr>Wingdings</vt:lpstr>
      <vt:lpstr>Office Theme</vt:lpstr>
      <vt:lpstr>Document</vt:lpstr>
      <vt:lpstr>Fantasy Football Draft BIP Model</vt:lpstr>
      <vt:lpstr>What is fantasy football?</vt:lpstr>
      <vt:lpstr>How do teams get players?</vt:lpstr>
      <vt:lpstr>PowerPoint Presentation</vt:lpstr>
      <vt:lpstr>Model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Scenario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William Norman</dc:creator>
  <cp:lastModifiedBy>Jacob William Norman</cp:lastModifiedBy>
  <cp:revision>23</cp:revision>
  <dcterms:created xsi:type="dcterms:W3CDTF">2025-12-03T01:21:22Z</dcterms:created>
  <dcterms:modified xsi:type="dcterms:W3CDTF">2025-12-04T02:52:52Z</dcterms:modified>
</cp:coreProperties>
</file>